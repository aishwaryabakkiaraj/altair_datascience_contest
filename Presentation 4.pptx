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F915A5-61FB-46B6-9DD2-7008A6251BC3}" v="270" dt="2025-11-08T15:38:22.5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Data Analytics and AI Platform | Altair RapidMiner">
            <a:extLst>
              <a:ext uri="{FF2B5EF4-FFF2-40B4-BE49-F238E27FC236}">
                <a16:creationId xmlns:a16="http://schemas.microsoft.com/office/drawing/2014/main" id="{0DC39288-3E39-7318-32D2-77E195E846C5}"/>
              </a:ext>
            </a:extLst>
          </p:cNvPr>
          <p:cNvPicPr>
            <a:picLocks noChangeAspect="1"/>
          </p:cNvPicPr>
          <p:nvPr/>
        </p:nvPicPr>
        <p:blipFill>
          <a:blip r:embed="rId2">
            <a:alphaModFix/>
          </a:blip>
          <a:srcRect r="-1" b="8265"/>
          <a:stretch>
            <a:fillRect/>
          </a:stretch>
        </p:blipFill>
        <p:spPr>
          <a:xfrm>
            <a:off x="4547937" y="-5"/>
            <a:ext cx="7644062" cy="3681406"/>
          </a:xfrm>
          <a:prstGeom prst="rect">
            <a:avLst/>
          </a:prstGeom>
        </p:spPr>
      </p:pic>
      <p:pic>
        <p:nvPicPr>
          <p:cNvPr id="5" name="Picture 4" descr="2024.0 - Altair RapidMiner Documentation">
            <a:extLst>
              <a:ext uri="{FF2B5EF4-FFF2-40B4-BE49-F238E27FC236}">
                <a16:creationId xmlns:a16="http://schemas.microsoft.com/office/drawing/2014/main" id="{43A4F36A-6E9B-CDA7-5CA9-1CECC35D4D4F}"/>
              </a:ext>
            </a:extLst>
          </p:cNvPr>
          <p:cNvPicPr>
            <a:picLocks noChangeAspect="1"/>
          </p:cNvPicPr>
          <p:nvPr/>
        </p:nvPicPr>
        <p:blipFill>
          <a:blip r:embed="rId3"/>
          <a:srcRect t="28666" r="-1" b="16109"/>
          <a:stretch>
            <a:fillRect/>
          </a:stretch>
        </p:blipFill>
        <p:spPr>
          <a:xfrm>
            <a:off x="4547938" y="3681409"/>
            <a:ext cx="7644062" cy="3176595"/>
          </a:xfrm>
          <a:prstGeom prst="rect">
            <a:avLst/>
          </a:prstGeom>
        </p:spPr>
      </p:pic>
      <p:sp>
        <p:nvSpPr>
          <p:cNvPr id="26" name="Rectangle 25">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78759" y="1115219"/>
            <a:ext cx="4914059" cy="2320366"/>
          </a:xfrm>
        </p:spPr>
        <p:txBody>
          <a:bodyPr>
            <a:normAutofit/>
          </a:bodyPr>
          <a:lstStyle/>
          <a:p>
            <a:pPr algn="l"/>
            <a:r>
              <a:rPr lang="en-US" sz="4000" dirty="0">
                <a:solidFill>
                  <a:schemeClr val="bg1"/>
                </a:solidFill>
              </a:rPr>
              <a:t>AN ANALYTICAL STUDY USING ALTAIR AI STUDIO</a:t>
            </a:r>
          </a:p>
        </p:txBody>
      </p:sp>
      <p:sp>
        <p:nvSpPr>
          <p:cNvPr id="3" name="Subtitle 2"/>
          <p:cNvSpPr>
            <a:spLocks noGrp="1"/>
          </p:cNvSpPr>
          <p:nvPr>
            <p:ph type="subTitle" idx="1"/>
          </p:nvPr>
        </p:nvSpPr>
        <p:spPr>
          <a:xfrm>
            <a:off x="373251" y="4599498"/>
            <a:ext cx="6132081" cy="1836576"/>
          </a:xfrm>
        </p:spPr>
        <p:txBody>
          <a:bodyPr vert="horz" lIns="91440" tIns="45720" rIns="91440" bIns="45720" rtlCol="0" anchor="t">
            <a:normAutofit/>
          </a:bodyPr>
          <a:lstStyle/>
          <a:p>
            <a:pPr algn="l"/>
            <a:r>
              <a:rPr lang="en-US" sz="2000" dirty="0">
                <a:solidFill>
                  <a:schemeClr val="bg1"/>
                </a:solidFill>
              </a:rPr>
              <a:t>Presented By:</a:t>
            </a:r>
          </a:p>
          <a:p>
            <a:pPr algn="l"/>
            <a:r>
              <a:rPr lang="en-US" sz="2000" dirty="0">
                <a:solidFill>
                  <a:schemeClr val="bg1"/>
                </a:solidFill>
              </a:rPr>
              <a:t>Aishwarya B</a:t>
            </a:r>
          </a:p>
          <a:p>
            <a:pPr algn="l"/>
            <a:r>
              <a:rPr lang="en-US" sz="2000" dirty="0">
                <a:solidFill>
                  <a:schemeClr val="bg1"/>
                </a:solidFill>
              </a:rPr>
              <a:t>B.E Computer Science and Engineering(3rd year)</a:t>
            </a:r>
          </a:p>
          <a:p>
            <a:pPr algn="l"/>
            <a:r>
              <a:rPr lang="en-US" sz="2000" dirty="0">
                <a:solidFill>
                  <a:schemeClr val="bg1"/>
                </a:solidFill>
              </a:rPr>
              <a:t>Sri Sairam Institute of Technology</a:t>
            </a:r>
          </a:p>
          <a:p>
            <a:pPr algn="l"/>
            <a:endParaRPr lang="en-US" sz="2000" dirty="0">
              <a:solidFill>
                <a:schemeClr val="bg1"/>
              </a:solidFill>
            </a:endParaRPr>
          </a:p>
        </p:txBody>
      </p:sp>
      <p:cxnSp>
        <p:nvCxnSpPr>
          <p:cNvPr id="28" name="Straight Connector 2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C681C32C-7AFC-4BB3-9088-65CBDFC5D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5B0DB0-A53E-2DED-67EF-6A76D6638EEA}"/>
              </a:ext>
            </a:extLst>
          </p:cNvPr>
          <p:cNvSpPr>
            <a:spLocks noGrp="1"/>
          </p:cNvSpPr>
          <p:nvPr>
            <p:ph type="title"/>
          </p:nvPr>
        </p:nvSpPr>
        <p:spPr>
          <a:xfrm>
            <a:off x="917275" y="4583953"/>
            <a:ext cx="4685857" cy="1465973"/>
          </a:xfrm>
        </p:spPr>
        <p:txBody>
          <a:bodyPr anchor="t">
            <a:normAutofit/>
          </a:bodyPr>
          <a:lstStyle/>
          <a:p>
            <a:r>
              <a:rPr lang="en-US" sz="4000"/>
              <a:t>PROBLEM STATEMENT</a:t>
            </a:r>
          </a:p>
        </p:txBody>
      </p:sp>
      <p:pic>
        <p:nvPicPr>
          <p:cNvPr id="4" name="Picture 3" descr="The Iris Dataset — A Little Bit of History and Biology | by Yong Cui | TDS  Archive | Medium">
            <a:extLst>
              <a:ext uri="{FF2B5EF4-FFF2-40B4-BE49-F238E27FC236}">
                <a16:creationId xmlns:a16="http://schemas.microsoft.com/office/drawing/2014/main" id="{48241BAF-D2C1-6930-2305-0C7D21BADCAE}"/>
              </a:ext>
            </a:extLst>
          </p:cNvPr>
          <p:cNvPicPr>
            <a:picLocks noChangeAspect="1"/>
          </p:cNvPicPr>
          <p:nvPr/>
        </p:nvPicPr>
        <p:blipFill>
          <a:blip r:embed="rId2"/>
          <a:srcRect t="2613"/>
          <a:stretch>
            <a:fillRect/>
          </a:stretch>
        </p:blipFill>
        <p:spPr>
          <a:xfrm>
            <a:off x="20" y="432"/>
            <a:ext cx="12191980" cy="4244759"/>
          </a:xfrm>
          <a:prstGeom prst="rect">
            <a:avLst/>
          </a:prstGeom>
        </p:spPr>
      </p:pic>
      <p:sp>
        <p:nvSpPr>
          <p:cNvPr id="3" name="Content Placeholder 2">
            <a:extLst>
              <a:ext uri="{FF2B5EF4-FFF2-40B4-BE49-F238E27FC236}">
                <a16:creationId xmlns:a16="http://schemas.microsoft.com/office/drawing/2014/main" id="{E8C5ED2D-1B31-186D-C47E-AA8C9B0BDEEC}"/>
              </a:ext>
            </a:extLst>
          </p:cNvPr>
          <p:cNvSpPr>
            <a:spLocks noGrp="1"/>
          </p:cNvSpPr>
          <p:nvPr>
            <p:ph idx="1"/>
          </p:nvPr>
        </p:nvSpPr>
        <p:spPr>
          <a:xfrm>
            <a:off x="6096000" y="4583953"/>
            <a:ext cx="5638800" cy="1465973"/>
          </a:xfrm>
        </p:spPr>
        <p:txBody>
          <a:bodyPr vert="horz" lIns="91440" tIns="45720" rIns="91440" bIns="45720" rtlCol="0">
            <a:normAutofit/>
          </a:bodyPr>
          <a:lstStyle/>
          <a:p>
            <a:r>
              <a:rPr lang="en-US" sz="1100">
                <a:ea typeface="+mn-lt"/>
                <a:cs typeface="+mn-lt"/>
              </a:rPr>
              <a:t>The objective of this project is to develop a machine learning model that can accurately classify iris flowers into their respective species — </a:t>
            </a:r>
            <a:r>
              <a:rPr lang="en-US" sz="1100" i="1">
                <a:ea typeface="+mn-lt"/>
                <a:cs typeface="+mn-lt"/>
              </a:rPr>
              <a:t>Iris setosa</a:t>
            </a:r>
            <a:r>
              <a:rPr lang="en-US" sz="1100">
                <a:ea typeface="+mn-lt"/>
                <a:cs typeface="+mn-lt"/>
              </a:rPr>
              <a:t>, </a:t>
            </a:r>
            <a:r>
              <a:rPr lang="en-US" sz="1100" i="1">
                <a:ea typeface="+mn-lt"/>
                <a:cs typeface="+mn-lt"/>
              </a:rPr>
              <a:t>Iris versicolor</a:t>
            </a:r>
            <a:r>
              <a:rPr lang="en-US" sz="1100">
                <a:ea typeface="+mn-lt"/>
                <a:cs typeface="+mn-lt"/>
              </a:rPr>
              <a:t>, and </a:t>
            </a:r>
            <a:r>
              <a:rPr lang="en-US" sz="1100" i="1">
                <a:ea typeface="+mn-lt"/>
                <a:cs typeface="+mn-lt"/>
              </a:rPr>
              <a:t>Iris virginica</a:t>
            </a:r>
            <a:r>
              <a:rPr lang="en-US" sz="1100">
                <a:ea typeface="+mn-lt"/>
                <a:cs typeface="+mn-lt"/>
              </a:rPr>
              <a:t> — based on four measurable attributes: sepal length, sepal width, petal length, and petal width.</a:t>
            </a:r>
            <a:endParaRPr lang="en-US" sz="1100"/>
          </a:p>
          <a:p>
            <a:r>
              <a:rPr lang="en-US" sz="1100">
                <a:ea typeface="+mn-lt"/>
                <a:cs typeface="+mn-lt"/>
              </a:rPr>
              <a:t>By analyzing the relationships among these attributes, the goal is to design an efficient classification model using Altair AI Studio that can automatically identify the species of an iris flower from its physical measurements with high accuracy.</a:t>
            </a:r>
            <a:endParaRPr lang="en-US" sz="1100"/>
          </a:p>
          <a:p>
            <a:endParaRPr lang="en-US" sz="1100"/>
          </a:p>
        </p:txBody>
      </p:sp>
      <p:sp>
        <p:nvSpPr>
          <p:cNvPr id="48" name="Rectangle 47">
            <a:extLst>
              <a:ext uri="{FF2B5EF4-FFF2-40B4-BE49-F238E27FC236}">
                <a16:creationId xmlns:a16="http://schemas.microsoft.com/office/drawing/2014/main" id="{199C0ED0-69DE-4C31-A5CF-E2A46FD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D42B8BD-40AF-488E-8A79-D7256C917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78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565704-7867-EC09-83B4-4BE5F0019FD1}"/>
              </a:ext>
            </a:extLst>
          </p:cNvPr>
          <p:cNvSpPr>
            <a:spLocks noGrp="1"/>
          </p:cNvSpPr>
          <p:nvPr>
            <p:ph type="title"/>
          </p:nvPr>
        </p:nvSpPr>
        <p:spPr>
          <a:xfrm>
            <a:off x="6412091" y="501651"/>
            <a:ext cx="4395340" cy="1716255"/>
          </a:xfrm>
        </p:spPr>
        <p:txBody>
          <a:bodyPr anchor="b">
            <a:normAutofit/>
          </a:bodyPr>
          <a:lstStyle/>
          <a:p>
            <a:r>
              <a:rPr lang="en-US" sz="5600"/>
              <a:t>DATASET OVERVIEW</a:t>
            </a:r>
          </a:p>
        </p:txBody>
      </p:sp>
      <p:sp>
        <p:nvSpPr>
          <p:cNvPr id="52" name="Rectangle 5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xploratory Data Analysis: Uni-variate analysis of Iris Data set | by  Pratik Nabriya | Analytics Vidhya | Medium">
            <a:extLst>
              <a:ext uri="{FF2B5EF4-FFF2-40B4-BE49-F238E27FC236}">
                <a16:creationId xmlns:a16="http://schemas.microsoft.com/office/drawing/2014/main" id="{64B9B348-70CB-0FEC-D6FA-2CEA3B2F9BBD}"/>
              </a:ext>
            </a:extLst>
          </p:cNvPr>
          <p:cNvPicPr>
            <a:picLocks noChangeAspect="1"/>
          </p:cNvPicPr>
          <p:nvPr/>
        </p:nvPicPr>
        <p:blipFill>
          <a:blip r:embed="rId2"/>
          <a:stretch>
            <a:fillRect/>
          </a:stretch>
        </p:blipFill>
        <p:spPr>
          <a:xfrm>
            <a:off x="279143" y="1470891"/>
            <a:ext cx="5221625" cy="3916218"/>
          </a:xfrm>
          <a:prstGeom prst="rect">
            <a:avLst/>
          </a:prstGeom>
        </p:spPr>
      </p:pic>
      <p:sp>
        <p:nvSpPr>
          <p:cNvPr id="3" name="Content Placeholder 2">
            <a:extLst>
              <a:ext uri="{FF2B5EF4-FFF2-40B4-BE49-F238E27FC236}">
                <a16:creationId xmlns:a16="http://schemas.microsoft.com/office/drawing/2014/main" id="{59589999-92F7-4F5E-EA1C-4D89C0C6E884}"/>
              </a:ext>
            </a:extLst>
          </p:cNvPr>
          <p:cNvSpPr>
            <a:spLocks noGrp="1"/>
          </p:cNvSpPr>
          <p:nvPr>
            <p:ph idx="1"/>
          </p:nvPr>
        </p:nvSpPr>
        <p:spPr>
          <a:xfrm>
            <a:off x="6405498" y="2645922"/>
            <a:ext cx="4744687" cy="4007477"/>
          </a:xfrm>
        </p:spPr>
        <p:txBody>
          <a:bodyPr vert="horz" lIns="91440" tIns="45720" rIns="91440" bIns="45720" rtlCol="0" anchor="t">
            <a:noAutofit/>
          </a:bodyPr>
          <a:lstStyle/>
          <a:p>
            <a:r>
              <a:rPr lang="en-US" sz="1300" b="1" dirty="0">
                <a:solidFill>
                  <a:schemeClr val="tx1">
                    <a:alpha val="80000"/>
                  </a:schemeClr>
                </a:solidFill>
                <a:ea typeface="+mn-lt"/>
                <a:cs typeface="+mn-lt"/>
              </a:rPr>
              <a:t>Dataset Name:</a:t>
            </a:r>
            <a:r>
              <a:rPr lang="en-US" sz="1300" dirty="0">
                <a:solidFill>
                  <a:schemeClr val="tx1">
                    <a:alpha val="80000"/>
                  </a:schemeClr>
                </a:solidFill>
                <a:ea typeface="+mn-lt"/>
                <a:cs typeface="+mn-lt"/>
              </a:rPr>
              <a:t> Iris Dataset (from Kaggle)</a:t>
            </a:r>
            <a:endParaRPr lang="en-US" sz="1300">
              <a:solidFill>
                <a:schemeClr val="tx1">
                  <a:alpha val="80000"/>
                </a:schemeClr>
              </a:solidFill>
            </a:endParaRPr>
          </a:p>
          <a:p>
            <a:r>
              <a:rPr lang="en-US" sz="1300" b="1" dirty="0">
                <a:solidFill>
                  <a:schemeClr val="tx1">
                    <a:alpha val="80000"/>
                  </a:schemeClr>
                </a:solidFill>
                <a:ea typeface="+mn-lt"/>
                <a:cs typeface="+mn-lt"/>
              </a:rPr>
              <a:t>Source:</a:t>
            </a:r>
            <a:r>
              <a:rPr lang="en-US" sz="1300" dirty="0">
                <a:solidFill>
                  <a:schemeClr val="tx1">
                    <a:alpha val="80000"/>
                  </a:schemeClr>
                </a:solidFill>
                <a:ea typeface="+mn-lt"/>
                <a:cs typeface="+mn-lt"/>
              </a:rPr>
              <a:t> Curated by Himanshu </a:t>
            </a:r>
            <a:r>
              <a:rPr lang="en-US" sz="1300" err="1">
                <a:solidFill>
                  <a:schemeClr val="tx1">
                    <a:alpha val="80000"/>
                  </a:schemeClr>
                </a:solidFill>
                <a:ea typeface="+mn-lt"/>
                <a:cs typeface="+mn-lt"/>
              </a:rPr>
              <a:t>Nakrani</a:t>
            </a:r>
            <a:r>
              <a:rPr lang="en-US" sz="1300" dirty="0">
                <a:solidFill>
                  <a:schemeClr val="tx1">
                    <a:alpha val="80000"/>
                  </a:schemeClr>
                </a:solidFill>
                <a:ea typeface="+mn-lt"/>
                <a:cs typeface="+mn-lt"/>
              </a:rPr>
              <a:t>, originally from the UCI Machine Learning Repository</a:t>
            </a:r>
            <a:endParaRPr lang="en-US" sz="1300">
              <a:solidFill>
                <a:schemeClr val="tx1">
                  <a:alpha val="80000"/>
                </a:schemeClr>
              </a:solidFill>
            </a:endParaRPr>
          </a:p>
          <a:p>
            <a:r>
              <a:rPr lang="en-US" sz="1300" b="1" dirty="0">
                <a:solidFill>
                  <a:schemeClr val="tx1">
                    <a:alpha val="80000"/>
                  </a:schemeClr>
                </a:solidFill>
                <a:ea typeface="+mn-lt"/>
                <a:cs typeface="+mn-lt"/>
              </a:rPr>
              <a:t>Records:</a:t>
            </a:r>
            <a:r>
              <a:rPr lang="en-US" sz="1300" dirty="0">
                <a:solidFill>
                  <a:schemeClr val="tx1">
                    <a:alpha val="80000"/>
                  </a:schemeClr>
                </a:solidFill>
                <a:ea typeface="+mn-lt"/>
                <a:cs typeface="+mn-lt"/>
              </a:rPr>
              <a:t> 150 samples</a:t>
            </a:r>
            <a:endParaRPr lang="en-US" sz="1300">
              <a:solidFill>
                <a:schemeClr val="tx1">
                  <a:alpha val="80000"/>
                </a:schemeClr>
              </a:solidFill>
            </a:endParaRPr>
          </a:p>
          <a:p>
            <a:r>
              <a:rPr lang="en-US" sz="1300" b="1" dirty="0">
                <a:solidFill>
                  <a:schemeClr val="tx1">
                    <a:alpha val="80000"/>
                  </a:schemeClr>
                </a:solidFill>
                <a:ea typeface="+mn-lt"/>
                <a:cs typeface="+mn-lt"/>
              </a:rPr>
              <a:t>Features:</a:t>
            </a:r>
            <a:endParaRPr lang="en-US" sz="1300">
              <a:solidFill>
                <a:schemeClr val="tx1">
                  <a:alpha val="80000"/>
                </a:schemeClr>
              </a:solidFill>
            </a:endParaRPr>
          </a:p>
          <a:p>
            <a:r>
              <a:rPr lang="en-US" sz="1300" dirty="0">
                <a:solidFill>
                  <a:schemeClr val="tx1">
                    <a:alpha val="80000"/>
                  </a:schemeClr>
                </a:solidFill>
                <a:ea typeface="+mn-lt"/>
                <a:cs typeface="+mn-lt"/>
              </a:rPr>
              <a:t>Sepal Length</a:t>
            </a:r>
            <a:endParaRPr lang="en-US" sz="1300">
              <a:solidFill>
                <a:schemeClr val="tx1">
                  <a:alpha val="80000"/>
                </a:schemeClr>
              </a:solidFill>
            </a:endParaRPr>
          </a:p>
          <a:p>
            <a:r>
              <a:rPr lang="en-US" sz="1300" dirty="0">
                <a:solidFill>
                  <a:schemeClr val="tx1">
                    <a:alpha val="80000"/>
                  </a:schemeClr>
                </a:solidFill>
                <a:ea typeface="+mn-lt"/>
                <a:cs typeface="+mn-lt"/>
              </a:rPr>
              <a:t>Sepal Width</a:t>
            </a:r>
            <a:endParaRPr lang="en-US" sz="1300">
              <a:solidFill>
                <a:schemeClr val="tx1">
                  <a:alpha val="80000"/>
                </a:schemeClr>
              </a:solidFill>
            </a:endParaRPr>
          </a:p>
          <a:p>
            <a:r>
              <a:rPr lang="en-US" sz="1300" dirty="0">
                <a:solidFill>
                  <a:schemeClr val="tx1">
                    <a:alpha val="80000"/>
                  </a:schemeClr>
                </a:solidFill>
                <a:ea typeface="+mn-lt"/>
                <a:cs typeface="+mn-lt"/>
              </a:rPr>
              <a:t>Petal Length</a:t>
            </a:r>
            <a:endParaRPr lang="en-US" sz="1300">
              <a:solidFill>
                <a:schemeClr val="tx1">
                  <a:alpha val="80000"/>
                </a:schemeClr>
              </a:solidFill>
            </a:endParaRPr>
          </a:p>
          <a:p>
            <a:r>
              <a:rPr lang="en-US" sz="1300" dirty="0">
                <a:solidFill>
                  <a:schemeClr val="tx1">
                    <a:alpha val="80000"/>
                  </a:schemeClr>
                </a:solidFill>
                <a:ea typeface="+mn-lt"/>
                <a:cs typeface="+mn-lt"/>
              </a:rPr>
              <a:t>Petal Width</a:t>
            </a:r>
            <a:endParaRPr lang="en-US" sz="1300">
              <a:solidFill>
                <a:schemeClr val="tx1">
                  <a:alpha val="80000"/>
                </a:schemeClr>
              </a:solidFill>
            </a:endParaRPr>
          </a:p>
          <a:p>
            <a:r>
              <a:rPr lang="en-US" sz="1300" dirty="0">
                <a:solidFill>
                  <a:schemeClr val="tx1">
                    <a:alpha val="80000"/>
                  </a:schemeClr>
                </a:solidFill>
                <a:ea typeface="+mn-lt"/>
                <a:cs typeface="+mn-lt"/>
              </a:rPr>
              <a:t>Species (Target)</a:t>
            </a:r>
            <a:endParaRPr lang="en-US" sz="1300">
              <a:solidFill>
                <a:schemeClr val="tx1">
                  <a:alpha val="80000"/>
                </a:schemeClr>
              </a:solidFill>
            </a:endParaRPr>
          </a:p>
          <a:p>
            <a:r>
              <a:rPr lang="en-US" sz="1300" b="1" dirty="0">
                <a:solidFill>
                  <a:schemeClr val="tx1">
                    <a:alpha val="80000"/>
                  </a:schemeClr>
                </a:solidFill>
                <a:ea typeface="+mn-lt"/>
                <a:cs typeface="+mn-lt"/>
              </a:rPr>
              <a:t>Species:</a:t>
            </a:r>
            <a:r>
              <a:rPr lang="en-US" sz="1300" dirty="0">
                <a:solidFill>
                  <a:schemeClr val="tx1">
                    <a:alpha val="80000"/>
                  </a:schemeClr>
                </a:solidFill>
                <a:ea typeface="+mn-lt"/>
                <a:cs typeface="+mn-lt"/>
              </a:rPr>
              <a:t> </a:t>
            </a:r>
            <a:r>
              <a:rPr lang="en-US" sz="1300" i="1" dirty="0">
                <a:solidFill>
                  <a:schemeClr val="tx1">
                    <a:alpha val="80000"/>
                  </a:schemeClr>
                </a:solidFill>
                <a:ea typeface="+mn-lt"/>
                <a:cs typeface="+mn-lt"/>
              </a:rPr>
              <a:t>Iris </a:t>
            </a:r>
            <a:r>
              <a:rPr lang="en-US" sz="1300" i="1" err="1">
                <a:solidFill>
                  <a:schemeClr val="tx1">
                    <a:alpha val="80000"/>
                  </a:schemeClr>
                </a:solidFill>
                <a:ea typeface="+mn-lt"/>
                <a:cs typeface="+mn-lt"/>
              </a:rPr>
              <a:t>setosa</a:t>
            </a:r>
            <a:r>
              <a:rPr lang="en-US" sz="1300" dirty="0">
                <a:solidFill>
                  <a:schemeClr val="tx1">
                    <a:alpha val="80000"/>
                  </a:schemeClr>
                </a:solidFill>
                <a:ea typeface="+mn-lt"/>
                <a:cs typeface="+mn-lt"/>
              </a:rPr>
              <a:t>, </a:t>
            </a:r>
            <a:r>
              <a:rPr lang="en-US" sz="1300" i="1" dirty="0">
                <a:solidFill>
                  <a:schemeClr val="tx1">
                    <a:alpha val="80000"/>
                  </a:schemeClr>
                </a:solidFill>
                <a:ea typeface="+mn-lt"/>
                <a:cs typeface="+mn-lt"/>
              </a:rPr>
              <a:t>Iris versicolor</a:t>
            </a:r>
            <a:r>
              <a:rPr lang="en-US" sz="1300" dirty="0">
                <a:solidFill>
                  <a:schemeClr val="tx1">
                    <a:alpha val="80000"/>
                  </a:schemeClr>
                </a:solidFill>
                <a:ea typeface="+mn-lt"/>
                <a:cs typeface="+mn-lt"/>
              </a:rPr>
              <a:t>, </a:t>
            </a:r>
            <a:r>
              <a:rPr lang="en-US" sz="1300" i="1" dirty="0">
                <a:solidFill>
                  <a:schemeClr val="tx1">
                    <a:alpha val="80000"/>
                  </a:schemeClr>
                </a:solidFill>
                <a:ea typeface="+mn-lt"/>
                <a:cs typeface="+mn-lt"/>
              </a:rPr>
              <a:t>Iris virginica</a:t>
            </a:r>
            <a:endParaRPr lang="en-US" sz="1300">
              <a:solidFill>
                <a:schemeClr val="tx1">
                  <a:alpha val="80000"/>
                </a:schemeClr>
              </a:solidFill>
            </a:endParaRPr>
          </a:p>
          <a:p>
            <a:r>
              <a:rPr lang="en-US" sz="1300" b="1" dirty="0">
                <a:solidFill>
                  <a:schemeClr val="tx1">
                    <a:alpha val="80000"/>
                  </a:schemeClr>
                </a:solidFill>
                <a:ea typeface="+mn-lt"/>
                <a:cs typeface="+mn-lt"/>
              </a:rPr>
              <a:t>Type:</a:t>
            </a:r>
            <a:r>
              <a:rPr lang="en-US" sz="1300" dirty="0">
                <a:solidFill>
                  <a:schemeClr val="tx1">
                    <a:alpha val="80000"/>
                  </a:schemeClr>
                </a:solidFill>
                <a:ea typeface="+mn-lt"/>
                <a:cs typeface="+mn-lt"/>
              </a:rPr>
              <a:t> Clean, well-balanced dataset with no missing values</a:t>
            </a:r>
            <a:endParaRPr lang="en-US" sz="1300">
              <a:solidFill>
                <a:schemeClr val="tx1">
                  <a:alpha val="80000"/>
                </a:schemeClr>
              </a:solidFill>
            </a:endParaRPr>
          </a:p>
          <a:p>
            <a:r>
              <a:rPr lang="en-US" sz="1300" b="1" dirty="0">
                <a:solidFill>
                  <a:schemeClr val="tx1">
                    <a:alpha val="80000"/>
                  </a:schemeClr>
                </a:solidFill>
                <a:ea typeface="+mn-lt"/>
                <a:cs typeface="+mn-lt"/>
              </a:rPr>
              <a:t>Goal:</a:t>
            </a:r>
            <a:r>
              <a:rPr lang="en-US" sz="1300" dirty="0">
                <a:solidFill>
                  <a:schemeClr val="tx1">
                    <a:alpha val="80000"/>
                  </a:schemeClr>
                </a:solidFill>
                <a:ea typeface="+mn-lt"/>
                <a:cs typeface="+mn-lt"/>
              </a:rPr>
              <a:t> Classify the flower species based on petal and sepal measurements</a:t>
            </a:r>
            <a:endParaRPr lang="en-US" sz="1300" dirty="0">
              <a:solidFill>
                <a:schemeClr val="tx1">
                  <a:alpha val="80000"/>
                </a:schemeClr>
              </a:solidFill>
            </a:endParaRPr>
          </a:p>
          <a:p>
            <a:endParaRPr lang="en-US" sz="1100">
              <a:solidFill>
                <a:schemeClr val="tx1">
                  <a:alpha val="80000"/>
                </a:schemeClr>
              </a:solidFill>
            </a:endParaRPr>
          </a:p>
        </p:txBody>
      </p:sp>
      <p:cxnSp>
        <p:nvCxnSpPr>
          <p:cNvPr id="54" name="Straight Connector 5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499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FC3F7E0-A5A5-1502-1C58-D712B8A3A165}"/>
              </a:ext>
            </a:extLst>
          </p:cNvPr>
          <p:cNvSpPr>
            <a:spLocks noGrp="1"/>
          </p:cNvSpPr>
          <p:nvPr>
            <p:ph type="title"/>
          </p:nvPr>
        </p:nvSpPr>
        <p:spPr>
          <a:xfrm>
            <a:off x="6657715" y="467271"/>
            <a:ext cx="4195674" cy="2052522"/>
          </a:xfrm>
        </p:spPr>
        <p:txBody>
          <a:bodyPr anchor="b">
            <a:normAutofit/>
          </a:bodyPr>
          <a:lstStyle/>
          <a:p>
            <a:r>
              <a:rPr lang="en-US" sz="4300"/>
              <a:t>METHODOLOGY AND PROCESS FLOW</a:t>
            </a:r>
          </a:p>
        </p:txBody>
      </p:sp>
      <p:sp>
        <p:nvSpPr>
          <p:cNvPr id="57" name="Oval 56">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3954F6B4-EC8F-4D05-1378-E392B59178AA}"/>
              </a:ext>
            </a:extLst>
          </p:cNvPr>
          <p:cNvPicPr>
            <a:picLocks noChangeAspect="1"/>
          </p:cNvPicPr>
          <p:nvPr/>
        </p:nvPicPr>
        <p:blipFill>
          <a:blip r:embed="rId2"/>
          <a:srcRect l="22668" r="21082" b="1"/>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58"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41"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B8C0CA42-5596-DFF4-C1EF-0400D7A8F2BC}"/>
              </a:ext>
            </a:extLst>
          </p:cNvPr>
          <p:cNvSpPr>
            <a:spLocks noGrp="1"/>
          </p:cNvSpPr>
          <p:nvPr>
            <p:ph idx="1"/>
          </p:nvPr>
        </p:nvSpPr>
        <p:spPr>
          <a:xfrm>
            <a:off x="6657715" y="2530743"/>
            <a:ext cx="4468842" cy="4279720"/>
          </a:xfrm>
        </p:spPr>
        <p:txBody>
          <a:bodyPr vert="horz" lIns="91440" tIns="45720" rIns="91440" bIns="45720" rtlCol="0" anchor="t">
            <a:normAutofit/>
          </a:bodyPr>
          <a:lstStyle/>
          <a:p>
            <a:r>
              <a:rPr lang="en-US" sz="1200" b="1" dirty="0">
                <a:solidFill>
                  <a:schemeClr val="tx1">
                    <a:alpha val="80000"/>
                  </a:schemeClr>
                </a:solidFill>
                <a:ea typeface="+mn-lt"/>
                <a:cs typeface="+mn-lt"/>
              </a:rPr>
              <a:t>Data Collection:</a:t>
            </a:r>
            <a:endParaRPr lang="en-US" sz="1200" dirty="0">
              <a:solidFill>
                <a:schemeClr val="tx1">
                  <a:alpha val="80000"/>
                </a:schemeClr>
              </a:solidFill>
            </a:endParaRPr>
          </a:p>
          <a:p>
            <a:pPr lvl="1"/>
            <a:r>
              <a:rPr lang="en-US" sz="1200" dirty="0">
                <a:solidFill>
                  <a:schemeClr val="tx1">
                    <a:alpha val="80000"/>
                  </a:schemeClr>
                </a:solidFill>
                <a:ea typeface="+mn-lt"/>
                <a:cs typeface="+mn-lt"/>
              </a:rPr>
              <a:t>Used the Iris dataset from Kaggle containing 150 records and 5 attributes.</a:t>
            </a:r>
            <a:endParaRPr lang="en-US" sz="1200" dirty="0">
              <a:solidFill>
                <a:schemeClr val="tx1">
                  <a:alpha val="80000"/>
                </a:schemeClr>
              </a:solidFill>
            </a:endParaRPr>
          </a:p>
          <a:p>
            <a:r>
              <a:rPr lang="en-US" sz="1200" b="1" dirty="0">
                <a:solidFill>
                  <a:schemeClr val="tx1">
                    <a:alpha val="80000"/>
                  </a:schemeClr>
                </a:solidFill>
                <a:ea typeface="+mn-lt"/>
                <a:cs typeface="+mn-lt"/>
              </a:rPr>
              <a:t>Data Preprocessing:</a:t>
            </a:r>
            <a:endParaRPr lang="en-US" sz="1200" dirty="0">
              <a:solidFill>
                <a:schemeClr val="tx1">
                  <a:alpha val="80000"/>
                </a:schemeClr>
              </a:solidFill>
            </a:endParaRPr>
          </a:p>
          <a:p>
            <a:pPr lvl="1"/>
            <a:r>
              <a:rPr lang="en-US" sz="1200" dirty="0">
                <a:solidFill>
                  <a:schemeClr val="tx1">
                    <a:alpha val="80000"/>
                  </a:schemeClr>
                </a:solidFill>
                <a:ea typeface="+mn-lt"/>
                <a:cs typeface="+mn-lt"/>
              </a:rPr>
              <a:t>Verified no missing values.</a:t>
            </a:r>
            <a:endParaRPr lang="en-US" sz="1200" dirty="0">
              <a:solidFill>
                <a:schemeClr val="tx1">
                  <a:alpha val="80000"/>
                </a:schemeClr>
              </a:solidFill>
            </a:endParaRPr>
          </a:p>
          <a:p>
            <a:pPr lvl="1"/>
            <a:r>
              <a:rPr lang="en-US" sz="1200" dirty="0">
                <a:solidFill>
                  <a:schemeClr val="tx1">
                    <a:alpha val="80000"/>
                  </a:schemeClr>
                </a:solidFill>
                <a:ea typeface="+mn-lt"/>
                <a:cs typeface="+mn-lt"/>
              </a:rPr>
              <a:t>Set the </a:t>
            </a:r>
            <a:r>
              <a:rPr lang="en-US" sz="1200" b="1" dirty="0">
                <a:solidFill>
                  <a:schemeClr val="tx1">
                    <a:alpha val="80000"/>
                  </a:schemeClr>
                </a:solidFill>
                <a:ea typeface="+mn-lt"/>
                <a:cs typeface="+mn-lt"/>
              </a:rPr>
              <a:t>‘Species’</a:t>
            </a:r>
            <a:r>
              <a:rPr lang="en-US" sz="1200" dirty="0">
                <a:solidFill>
                  <a:schemeClr val="tx1">
                    <a:alpha val="80000"/>
                  </a:schemeClr>
                </a:solidFill>
                <a:ea typeface="+mn-lt"/>
                <a:cs typeface="+mn-lt"/>
              </a:rPr>
              <a:t> column as the </a:t>
            </a:r>
            <a:r>
              <a:rPr lang="en-US" sz="1200" b="1" dirty="0">
                <a:solidFill>
                  <a:schemeClr val="tx1">
                    <a:alpha val="80000"/>
                  </a:schemeClr>
                </a:solidFill>
                <a:ea typeface="+mn-lt"/>
                <a:cs typeface="+mn-lt"/>
              </a:rPr>
              <a:t>label (target)</a:t>
            </a:r>
            <a:r>
              <a:rPr lang="en-US" sz="1200" dirty="0">
                <a:solidFill>
                  <a:schemeClr val="tx1">
                    <a:alpha val="80000"/>
                  </a:schemeClr>
                </a:solidFill>
                <a:ea typeface="+mn-lt"/>
                <a:cs typeface="+mn-lt"/>
              </a:rPr>
              <a:t> using </a:t>
            </a:r>
            <a:r>
              <a:rPr lang="en-US" sz="1200" i="1" dirty="0">
                <a:solidFill>
                  <a:schemeClr val="tx1">
                    <a:alpha val="80000"/>
                  </a:schemeClr>
                </a:solidFill>
                <a:ea typeface="+mn-lt"/>
                <a:cs typeface="+mn-lt"/>
              </a:rPr>
              <a:t>Set Role</a:t>
            </a:r>
            <a:r>
              <a:rPr lang="en-US" sz="1200" dirty="0">
                <a:solidFill>
                  <a:schemeClr val="tx1">
                    <a:alpha val="80000"/>
                  </a:schemeClr>
                </a:solidFill>
                <a:ea typeface="+mn-lt"/>
                <a:cs typeface="+mn-lt"/>
              </a:rPr>
              <a:t>.</a:t>
            </a:r>
            <a:endParaRPr lang="en-US" sz="1200" dirty="0">
              <a:solidFill>
                <a:schemeClr val="tx1">
                  <a:alpha val="80000"/>
                </a:schemeClr>
              </a:solidFill>
            </a:endParaRPr>
          </a:p>
          <a:p>
            <a:r>
              <a:rPr lang="en-US" sz="1200" b="1" dirty="0">
                <a:solidFill>
                  <a:schemeClr val="tx1">
                    <a:alpha val="80000"/>
                  </a:schemeClr>
                </a:solidFill>
                <a:ea typeface="+mn-lt"/>
                <a:cs typeface="+mn-lt"/>
              </a:rPr>
              <a:t>Data Splitting:</a:t>
            </a:r>
            <a:endParaRPr lang="en-US" sz="1200" dirty="0">
              <a:solidFill>
                <a:schemeClr val="tx1">
                  <a:alpha val="80000"/>
                </a:schemeClr>
              </a:solidFill>
            </a:endParaRPr>
          </a:p>
          <a:p>
            <a:pPr lvl="1"/>
            <a:r>
              <a:rPr lang="en-US" sz="1200" dirty="0">
                <a:solidFill>
                  <a:schemeClr val="tx1">
                    <a:alpha val="80000"/>
                  </a:schemeClr>
                </a:solidFill>
                <a:ea typeface="+mn-lt"/>
                <a:cs typeface="+mn-lt"/>
              </a:rPr>
              <a:t>Split the dataset into </a:t>
            </a:r>
            <a:r>
              <a:rPr lang="en-US" sz="1200" b="1" dirty="0">
                <a:solidFill>
                  <a:schemeClr val="tx1">
                    <a:alpha val="80000"/>
                  </a:schemeClr>
                </a:solidFill>
                <a:ea typeface="+mn-lt"/>
                <a:cs typeface="+mn-lt"/>
              </a:rPr>
              <a:t>training (70%)</a:t>
            </a:r>
            <a:r>
              <a:rPr lang="en-US" sz="1200" dirty="0">
                <a:solidFill>
                  <a:schemeClr val="tx1">
                    <a:alpha val="80000"/>
                  </a:schemeClr>
                </a:solidFill>
                <a:ea typeface="+mn-lt"/>
                <a:cs typeface="+mn-lt"/>
              </a:rPr>
              <a:t> and </a:t>
            </a:r>
            <a:r>
              <a:rPr lang="en-US" sz="1200" b="1" dirty="0">
                <a:solidFill>
                  <a:schemeClr val="tx1">
                    <a:alpha val="80000"/>
                  </a:schemeClr>
                </a:solidFill>
                <a:ea typeface="+mn-lt"/>
                <a:cs typeface="+mn-lt"/>
              </a:rPr>
              <a:t>testing (30%)</a:t>
            </a:r>
            <a:r>
              <a:rPr lang="en-US" sz="1200" dirty="0">
                <a:solidFill>
                  <a:schemeClr val="tx1">
                    <a:alpha val="80000"/>
                  </a:schemeClr>
                </a:solidFill>
                <a:ea typeface="+mn-lt"/>
                <a:cs typeface="+mn-lt"/>
              </a:rPr>
              <a:t> subsets.</a:t>
            </a:r>
            <a:endParaRPr lang="en-US" sz="1200" dirty="0">
              <a:solidFill>
                <a:schemeClr val="tx1">
                  <a:alpha val="80000"/>
                </a:schemeClr>
              </a:solidFill>
            </a:endParaRPr>
          </a:p>
          <a:p>
            <a:r>
              <a:rPr lang="en-US" sz="1200" b="1" dirty="0">
                <a:solidFill>
                  <a:schemeClr val="tx1">
                    <a:alpha val="80000"/>
                  </a:schemeClr>
                </a:solidFill>
                <a:ea typeface="+mn-lt"/>
                <a:cs typeface="+mn-lt"/>
              </a:rPr>
              <a:t>Model Building:</a:t>
            </a:r>
            <a:endParaRPr lang="en-US" sz="1200" dirty="0">
              <a:solidFill>
                <a:schemeClr val="tx1">
                  <a:alpha val="80000"/>
                </a:schemeClr>
              </a:solidFill>
            </a:endParaRPr>
          </a:p>
          <a:p>
            <a:pPr lvl="1"/>
            <a:r>
              <a:rPr lang="en-US" sz="1200" dirty="0">
                <a:solidFill>
                  <a:schemeClr val="tx1">
                    <a:alpha val="80000"/>
                  </a:schemeClr>
                </a:solidFill>
                <a:ea typeface="+mn-lt"/>
                <a:cs typeface="+mn-lt"/>
              </a:rPr>
              <a:t>Applied the </a:t>
            </a:r>
            <a:r>
              <a:rPr lang="en-US" sz="1200" b="1" dirty="0">
                <a:solidFill>
                  <a:schemeClr val="tx1">
                    <a:alpha val="80000"/>
                  </a:schemeClr>
                </a:solidFill>
                <a:ea typeface="+mn-lt"/>
                <a:cs typeface="+mn-lt"/>
              </a:rPr>
              <a:t>Decision Tree</a:t>
            </a:r>
            <a:r>
              <a:rPr lang="en-US" sz="1200" dirty="0">
                <a:solidFill>
                  <a:schemeClr val="tx1">
                    <a:alpha val="80000"/>
                  </a:schemeClr>
                </a:solidFill>
                <a:ea typeface="+mn-lt"/>
                <a:cs typeface="+mn-lt"/>
              </a:rPr>
              <a:t> algorithm to train the model.</a:t>
            </a:r>
            <a:endParaRPr lang="en-US" sz="1200" dirty="0">
              <a:solidFill>
                <a:schemeClr val="tx1">
                  <a:alpha val="80000"/>
                </a:schemeClr>
              </a:solidFill>
            </a:endParaRPr>
          </a:p>
          <a:p>
            <a:r>
              <a:rPr lang="en-US" sz="1200" b="1" dirty="0">
                <a:solidFill>
                  <a:schemeClr val="tx1">
                    <a:alpha val="80000"/>
                  </a:schemeClr>
                </a:solidFill>
                <a:ea typeface="+mn-lt"/>
                <a:cs typeface="+mn-lt"/>
              </a:rPr>
              <a:t>Model Testing &amp; Evaluation:</a:t>
            </a:r>
            <a:endParaRPr lang="en-US" sz="1200" dirty="0">
              <a:solidFill>
                <a:schemeClr val="tx1">
                  <a:alpha val="80000"/>
                </a:schemeClr>
              </a:solidFill>
            </a:endParaRPr>
          </a:p>
          <a:p>
            <a:pPr lvl="1"/>
            <a:r>
              <a:rPr lang="en-US" sz="1200" dirty="0">
                <a:solidFill>
                  <a:schemeClr val="tx1">
                    <a:alpha val="80000"/>
                  </a:schemeClr>
                </a:solidFill>
                <a:ea typeface="+mn-lt"/>
                <a:cs typeface="+mn-lt"/>
              </a:rPr>
              <a:t>Used the </a:t>
            </a:r>
            <a:r>
              <a:rPr lang="en-US" sz="1200" b="1" dirty="0">
                <a:solidFill>
                  <a:schemeClr val="tx1">
                    <a:alpha val="80000"/>
                  </a:schemeClr>
                </a:solidFill>
                <a:ea typeface="+mn-lt"/>
                <a:cs typeface="+mn-lt"/>
              </a:rPr>
              <a:t>Apply Model</a:t>
            </a:r>
            <a:r>
              <a:rPr lang="en-US" sz="1200" dirty="0">
                <a:solidFill>
                  <a:schemeClr val="tx1">
                    <a:alpha val="80000"/>
                  </a:schemeClr>
                </a:solidFill>
                <a:ea typeface="+mn-lt"/>
                <a:cs typeface="+mn-lt"/>
              </a:rPr>
              <a:t> and </a:t>
            </a:r>
            <a:r>
              <a:rPr lang="en-US" sz="1200" b="1" dirty="0">
                <a:solidFill>
                  <a:schemeClr val="tx1">
                    <a:alpha val="80000"/>
                  </a:schemeClr>
                </a:solidFill>
                <a:ea typeface="+mn-lt"/>
                <a:cs typeface="+mn-lt"/>
              </a:rPr>
              <a:t>Performance</a:t>
            </a:r>
            <a:r>
              <a:rPr lang="en-US" sz="1200" dirty="0">
                <a:solidFill>
                  <a:schemeClr val="tx1">
                    <a:alpha val="80000"/>
                  </a:schemeClr>
                </a:solidFill>
                <a:ea typeface="+mn-lt"/>
                <a:cs typeface="+mn-lt"/>
              </a:rPr>
              <a:t> operators to test accuracy.</a:t>
            </a:r>
            <a:endParaRPr lang="en-US" sz="1200" dirty="0">
              <a:solidFill>
                <a:schemeClr val="tx1">
                  <a:alpha val="80000"/>
                </a:schemeClr>
              </a:solidFill>
            </a:endParaRPr>
          </a:p>
          <a:p>
            <a:pPr lvl="1"/>
            <a:r>
              <a:rPr lang="en-US" sz="1200" dirty="0">
                <a:solidFill>
                  <a:schemeClr val="tx1">
                    <a:alpha val="80000"/>
                  </a:schemeClr>
                </a:solidFill>
                <a:ea typeface="+mn-lt"/>
                <a:cs typeface="+mn-lt"/>
              </a:rPr>
              <a:t>Achieved an overall </a:t>
            </a:r>
            <a:r>
              <a:rPr lang="en-US" sz="1200" b="1" dirty="0">
                <a:solidFill>
                  <a:schemeClr val="tx1">
                    <a:alpha val="80000"/>
                  </a:schemeClr>
                </a:solidFill>
                <a:ea typeface="+mn-lt"/>
                <a:cs typeface="+mn-lt"/>
              </a:rPr>
              <a:t>accuracy of 91%</a:t>
            </a:r>
            <a:r>
              <a:rPr lang="en-US" sz="1200" dirty="0">
                <a:solidFill>
                  <a:schemeClr val="tx1">
                    <a:alpha val="80000"/>
                  </a:schemeClr>
                </a:solidFill>
                <a:ea typeface="+mn-lt"/>
                <a:cs typeface="+mn-lt"/>
              </a:rPr>
              <a:t> in predicting flower species.</a:t>
            </a:r>
            <a:endParaRPr lang="en-US" sz="1200" dirty="0">
              <a:solidFill>
                <a:schemeClr val="tx1">
                  <a:alpha val="80000"/>
                </a:schemeClr>
              </a:solidFill>
            </a:endParaRPr>
          </a:p>
          <a:p>
            <a:endParaRPr lang="en-US" sz="800">
              <a:solidFill>
                <a:schemeClr val="tx1">
                  <a:alpha val="80000"/>
                </a:schemeClr>
              </a:solidFill>
            </a:endParaRPr>
          </a:p>
        </p:txBody>
      </p:sp>
      <p:sp>
        <p:nvSpPr>
          <p:cNvPr id="43"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59"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00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81F8434-54E8-569E-5C07-B8DDC61EC846}"/>
              </a:ext>
            </a:extLst>
          </p:cNvPr>
          <p:cNvSpPr>
            <a:spLocks noGrp="1"/>
          </p:cNvSpPr>
          <p:nvPr>
            <p:ph type="title"/>
          </p:nvPr>
        </p:nvSpPr>
        <p:spPr>
          <a:xfrm>
            <a:off x="1295400" y="669925"/>
            <a:ext cx="4800600" cy="1325563"/>
          </a:xfrm>
        </p:spPr>
        <p:txBody>
          <a:bodyPr anchor="b">
            <a:normAutofit/>
          </a:bodyPr>
          <a:lstStyle/>
          <a:p>
            <a:r>
              <a:rPr lang="en-US">
                <a:solidFill>
                  <a:schemeClr val="bg1"/>
                </a:solidFill>
              </a:rPr>
              <a:t>MODEL BUILDING AND ACCURACY</a:t>
            </a:r>
          </a:p>
        </p:txBody>
      </p:sp>
      <p:cxnSp>
        <p:nvCxnSpPr>
          <p:cNvPr id="14"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Content Placeholder 5" descr="Model Accuracy Evaluation Guide | Label Studio">
            <a:extLst>
              <a:ext uri="{FF2B5EF4-FFF2-40B4-BE49-F238E27FC236}">
                <a16:creationId xmlns:a16="http://schemas.microsoft.com/office/drawing/2014/main" id="{72C6BBCB-9389-97CC-0A00-8555694F7414}"/>
              </a:ext>
            </a:extLst>
          </p:cNvPr>
          <p:cNvPicPr>
            <a:picLocks noGrp="1" noChangeAspect="1"/>
          </p:cNvPicPr>
          <p:nvPr>
            <p:ph idx="1"/>
          </p:nvPr>
        </p:nvPicPr>
        <p:blipFill>
          <a:blip r:embed="rId2"/>
          <a:stretch>
            <a:fillRect/>
          </a:stretch>
        </p:blipFill>
        <p:spPr>
          <a:xfrm>
            <a:off x="1295400" y="3283939"/>
            <a:ext cx="4800600" cy="1721358"/>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4BD3B644-0433-03FA-4041-028285B71A79}"/>
              </a:ext>
            </a:extLst>
          </p:cNvPr>
          <p:cNvPicPr>
            <a:picLocks noChangeAspect="1"/>
          </p:cNvPicPr>
          <p:nvPr/>
        </p:nvPicPr>
        <p:blipFill>
          <a:blip r:embed="rId3"/>
          <a:stretch>
            <a:fillRect/>
          </a:stretch>
        </p:blipFill>
        <p:spPr>
          <a:xfrm>
            <a:off x="6645193" y="568956"/>
            <a:ext cx="3588640" cy="2386445"/>
          </a:xfrm>
          <a:prstGeom prst="rect">
            <a:avLst/>
          </a:prstGeom>
        </p:spPr>
      </p:pic>
      <p:sp>
        <p:nvSpPr>
          <p:cNvPr id="16" name="Rectangle 15">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9B388BF-F185-F0EA-510E-1B756ACFB423}"/>
              </a:ext>
            </a:extLst>
          </p:cNvPr>
          <p:cNvPicPr>
            <a:picLocks noChangeAspect="1"/>
          </p:cNvPicPr>
          <p:nvPr/>
        </p:nvPicPr>
        <p:blipFill>
          <a:blip r:embed="rId4"/>
          <a:stretch>
            <a:fillRect/>
          </a:stretch>
        </p:blipFill>
        <p:spPr>
          <a:xfrm>
            <a:off x="8038661" y="4476578"/>
            <a:ext cx="3588640" cy="1291909"/>
          </a:xfrm>
          <a:prstGeom prst="rect">
            <a:avLst/>
          </a:prstGeom>
        </p:spPr>
      </p:pic>
      <p:sp>
        <p:nvSpPr>
          <p:cNvPr id="18" name="Rectangle 17">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9589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Best Thank You For PowerPoint Template and Google Slides">
            <a:extLst>
              <a:ext uri="{FF2B5EF4-FFF2-40B4-BE49-F238E27FC236}">
                <a16:creationId xmlns:a16="http://schemas.microsoft.com/office/drawing/2014/main" id="{58D786E2-BA97-99B8-E83B-D44CDBD142E3}"/>
              </a:ext>
            </a:extLst>
          </p:cNvPr>
          <p:cNvPicPr>
            <a:picLocks noGrp="1" noChangeAspect="1"/>
          </p:cNvPicPr>
          <p:nvPr>
            <p:ph idx="1"/>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2249817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AN ANALYTICAL STUDY USING ALTAIR AI STUDIO</vt:lpstr>
      <vt:lpstr>PROBLEM STATEMENT</vt:lpstr>
      <vt:lpstr>DATASET OVERVIEW</vt:lpstr>
      <vt:lpstr>METHODOLOGY AND PROCESS FLOW</vt:lpstr>
      <vt:lpstr>MODEL BUILDING AND ACCURACY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118</cp:revision>
  <dcterms:created xsi:type="dcterms:W3CDTF">2025-11-08T14:52:33Z</dcterms:created>
  <dcterms:modified xsi:type="dcterms:W3CDTF">2025-11-08T16:13:10Z</dcterms:modified>
</cp:coreProperties>
</file>